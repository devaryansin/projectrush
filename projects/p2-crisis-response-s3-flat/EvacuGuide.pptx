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11"/>
  </p:notesMasterIdLst>
  <p:sldIdLst>
    <p:sldId id="257" r:id="rId3"/>
    <p:sldId id="258" r:id="rId4"/>
    <p:sldId id="259" r:id="rId5"/>
    <p:sldId id="260" r:id="rId6"/>
    <p:sldId id="264" r:id="rId7"/>
    <p:sldId id="266" r:id="rId8"/>
    <p:sldId id="268" r:id="rId9"/>
    <p:sldId id="270" r:id="rId10"/>
  </p:sldIdLst>
  <p:sldSz cx="9144000" cy="5143500" type="screen16x9"/>
  <p:notesSz cx="6858000" cy="9144000"/>
  <p:embeddedFontLst>
    <p:embeddedFont>
      <p:font typeface="Google Sans" panose="020B0604020202020204"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62" y="725"/>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font" Target="fonts/font4.fntdata"/><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c07f7ad1a1_2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g3c07f7ad1a1_2_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c07f7ad1a1_2_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g3c07f7ad1a1_2_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c07f7ad1a1_2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 name="Google Shape;119;g3c07f7ad1a1_2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3c07f7ad1a1_2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5" name="Google Shape;125;g3c07f7ad1a1_2_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c07f7ad1a1_2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9" name="Google Shape;149;g3c07f7ad1a1_2_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c07f7ad1a1_2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g3c07f7ad1a1_2_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c07f7ad1a1_2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c07f7ad1a1_2_1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c07f7ad1a1_2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g3c07f7ad1a1_2_1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56" name="Google Shape;56;p1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7" name="Google Shape;5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0" name="Google Shape;60;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3" name="Google Shape;63;p1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4" name="Google Shape;64;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5"/>
        <p:cNvGrpSpPr/>
        <p:nvPr/>
      </p:nvGrpSpPr>
      <p:grpSpPr>
        <a:xfrm>
          <a:off x="0" y="0"/>
          <a:ext cx="0" cy="0"/>
          <a:chOff x="0" y="0"/>
          <a:chExt cx="0" cy="0"/>
        </a:xfrm>
      </p:grpSpPr>
      <p:sp>
        <p:nvSpPr>
          <p:cNvPr id="66" name="Google Shape;66;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7" name="Google Shape;67;p1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8" name="Google Shape;68;p1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69" name="Google Shape;69;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2" name="Google Shape;72;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3"/>
        <p:cNvGrpSpPr/>
        <p:nvPr/>
      </p:nvGrpSpPr>
      <p:grpSpPr>
        <a:xfrm>
          <a:off x="0" y="0"/>
          <a:ext cx="0" cy="0"/>
          <a:chOff x="0" y="0"/>
          <a:chExt cx="0" cy="0"/>
        </a:xfrm>
      </p:grpSpPr>
      <p:sp>
        <p:nvSpPr>
          <p:cNvPr id="74" name="Google Shape;74;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75" name="Google Shape;75;p1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6" name="Google Shape;76;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79" name="Google Shape;79;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3" name="Google Shape;83;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4" name="Google Shape;84;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85" name="Google Shape;85;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88" name="Google Shape;8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9"/>
        <p:cNvGrpSpPr/>
        <p:nvPr/>
      </p:nvGrpSpPr>
      <p:grpSpPr>
        <a:xfrm>
          <a:off x="0" y="0"/>
          <a:ext cx="0" cy="0"/>
          <a:chOff x="0" y="0"/>
          <a:chExt cx="0" cy="0"/>
        </a:xfrm>
      </p:grpSpPr>
      <p:sp>
        <p:nvSpPr>
          <p:cNvPr id="90" name="Google Shape;90;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1" name="Google Shape;91;p2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92" name="Google Shape;92;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3"/>
        <p:cNvGrpSpPr/>
        <p:nvPr/>
      </p:nvGrpSpPr>
      <p:grpSpPr>
        <a:xfrm>
          <a:off x="0" y="0"/>
          <a:ext cx="0" cy="0"/>
          <a:chOff x="0" y="0"/>
          <a:chExt cx="0" cy="0"/>
        </a:xfrm>
      </p:grpSpPr>
      <p:sp>
        <p:nvSpPr>
          <p:cNvPr id="94" name="Google Shape;94;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p>
            <a:pPr marL="0" lvl="0" indent="0" algn="ctr" rtl="0">
              <a:lnSpc>
                <a:spcPct val="100000"/>
              </a:lnSpc>
              <a:spcBef>
                <a:spcPts val="0"/>
              </a:spcBef>
              <a:spcAft>
                <a:spcPts val="0"/>
              </a:spcAft>
              <a:buSzPts val="2800"/>
              <a:buNone/>
            </a:pPr>
            <a:endParaRPr/>
          </a:p>
        </p:txBody>
      </p:sp>
      <p:pic>
        <p:nvPicPr>
          <p:cNvPr id="108" name="Google Shape;108;p26"/>
          <p:cNvPicPr preferRelativeResize="0"/>
          <p:nvPr/>
        </p:nvPicPr>
        <p:blipFill rotWithShape="1">
          <a:blip r:embed="rId3">
            <a:alphaModFix/>
          </a:blip>
          <a:srcRect t="47611"/>
          <a:stretch/>
        </p:blipFill>
        <p:spPr>
          <a:xfrm>
            <a:off x="0" y="2448875"/>
            <a:ext cx="9144000" cy="2694624"/>
          </a:xfrm>
          <a:prstGeom prst="rect">
            <a:avLst/>
          </a:prstGeom>
          <a:noFill/>
          <a:ln>
            <a:noFill/>
          </a:ln>
        </p:spPr>
      </p:pic>
      <p:sp>
        <p:nvSpPr>
          <p:cNvPr id="109" name="Google Shape;109;p26"/>
          <p:cNvSpPr txBox="1"/>
          <p:nvPr/>
        </p:nvSpPr>
        <p:spPr>
          <a:xfrm>
            <a:off x="146600" y="2895500"/>
            <a:ext cx="8760000" cy="2003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1" i="0" u="none" strike="noStrike" cap="none" dirty="0">
                <a:solidFill>
                  <a:srgbClr val="000000"/>
                </a:solidFill>
                <a:latin typeface="Google Sans"/>
                <a:ea typeface="Google Sans"/>
                <a:cs typeface="Google Sans"/>
                <a:sym typeface="Google Sans"/>
              </a:rPr>
              <a:t>Team Details</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name: </a:t>
            </a:r>
            <a:endParaRPr sz="1800" b="1" i="0" u="none" strike="noStrike" cap="none" dirty="0">
              <a:solidFill>
                <a:srgbClr val="000000"/>
              </a:solidFill>
              <a:latin typeface="Google Sans"/>
              <a:ea typeface="Google Sans"/>
              <a:cs typeface="Google Sans"/>
              <a:sym typeface="Google Sans"/>
            </a:endParaRPr>
          </a:p>
          <a:p>
            <a:pPr marL="914400" marR="0" lvl="1" indent="-342900" algn="l" rtl="0">
              <a:lnSpc>
                <a:spcPct val="100000"/>
              </a:lnSpc>
              <a:spcBef>
                <a:spcPts val="0"/>
              </a:spcBef>
              <a:spcAft>
                <a:spcPts val="0"/>
              </a:spcAft>
              <a:buClr>
                <a:srgbClr val="000000"/>
              </a:buClr>
              <a:buSzPts val="1800"/>
              <a:buFont typeface="Google Sans"/>
              <a:buAutoNum type="alphaLcPeriod"/>
            </a:pPr>
            <a:r>
              <a:rPr lang="en-GB" sz="1800" b="1" i="0" u="none" strike="noStrike" cap="none" dirty="0">
                <a:solidFill>
                  <a:srgbClr val="000000"/>
                </a:solidFill>
                <a:latin typeface="Google Sans"/>
                <a:ea typeface="Google Sans"/>
                <a:cs typeface="Google Sans"/>
                <a:sym typeface="Google Sans"/>
              </a:rPr>
              <a:t>Team leader name: </a:t>
            </a:r>
            <a:endParaRPr sz="1800" b="1" i="0" u="none" strike="noStrike" cap="none" dirty="0">
              <a:solidFill>
                <a:srgbClr val="000000"/>
              </a:solidFill>
              <a:latin typeface="Google Sans"/>
              <a:ea typeface="Google Sans"/>
              <a:cs typeface="Google Sans"/>
              <a:sym typeface="Google Sans"/>
            </a:endParaRPr>
          </a:p>
          <a:p>
            <a:pPr marL="914400" lvl="1" indent="-342900">
              <a:buSzPts val="1800"/>
              <a:buFont typeface="Google Sans"/>
              <a:buAutoNum type="alphaLcPeriod"/>
            </a:pPr>
            <a:r>
              <a:rPr lang="en-GB" sz="1800" b="1" i="0" u="none" strike="noStrike" cap="none">
                <a:solidFill>
                  <a:srgbClr val="000000"/>
                </a:solidFill>
                <a:latin typeface="Google Sans"/>
                <a:ea typeface="Google Sans"/>
                <a:cs typeface="Google Sans"/>
                <a:sym typeface="Google Sans"/>
              </a:rPr>
              <a:t>Problem Statement:</a:t>
            </a:r>
            <a:r>
              <a:rPr lang="en-GB" sz="1800" b="1">
                <a:latin typeface="Google Sans"/>
                <a:ea typeface="Google Sans"/>
                <a:cs typeface="Google Sans"/>
                <a:sym typeface="Google Sans"/>
              </a:rPr>
              <a:t> Rapid Crisis Response</a:t>
            </a:r>
            <a:r>
              <a:rPr lang="en-GB" sz="1800" b="1" i="0" u="none" strike="noStrike" cap="none">
                <a:solidFill>
                  <a:srgbClr val="000000"/>
                </a:solidFill>
                <a:latin typeface="Google Sans"/>
                <a:ea typeface="Google Sans"/>
                <a:cs typeface="Google Sans"/>
                <a:sym typeface="Google Sans"/>
              </a:rPr>
              <a:t> </a:t>
            </a:r>
            <a:endParaRPr sz="1800" b="1"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rgbClr val="000000"/>
              </a:solidFill>
              <a:latin typeface="Arial"/>
              <a:ea typeface="Arial"/>
              <a:cs typeface="Arial"/>
              <a:sym typeface="Arial"/>
            </a:endParaRPr>
          </a:p>
        </p:txBody>
      </p:sp>
      <p:pic>
        <p:nvPicPr>
          <p:cNvPr id="110" name="Google Shape;110;p26" title="Frame 96.png"/>
          <p:cNvPicPr preferRelativeResize="0"/>
          <p:nvPr/>
        </p:nvPicPr>
        <p:blipFill rotWithShape="1">
          <a:blip r:embed="rId4">
            <a:alphaModFix/>
          </a:blip>
          <a:srcRect/>
          <a:stretch/>
        </p:blipFill>
        <p:spPr>
          <a:xfrm>
            <a:off x="0" y="0"/>
            <a:ext cx="9143997" cy="275927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7"/>
          <p:cNvSpPr txBox="1"/>
          <p:nvPr/>
        </p:nvSpPr>
        <p:spPr>
          <a:xfrm>
            <a:off x="85525" y="806350"/>
            <a:ext cx="8943000" cy="56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500" b="1"/>
            </a:pPr>
            <a:r>
              <a:t>Brief:</a:t>
            </a:r>
            <a:endParaRPr sz="1800" b="0" i="0" u="none" strike="noStrike" cap="none" dirty="0">
              <a:solidFill>
                <a:srgbClr val="000000"/>
              </a:solidFill>
              <a:latin typeface="Google Sans"/>
              <a:ea typeface="Google Sans"/>
              <a:cs typeface="Google Sans"/>
              <a:sym typeface="Google Sans"/>
            </a:endParaRPr>
          </a:p>
          <a:p>
            <a:pPr>
              <a:defRPr sz="2100"/>
            </a:pPr>
            <a:r>
              <a:t>EvacuGuide is a Next.js 16 web application designed for rapid crisis response in hospitality venues. It leverages Gemini AI to instantly generate comprehensive, venue-specific evacuation plans based on user input regarding venue details and crisis type. This solution eliminates fragmented communication during emergencies, providing coordinated, step-by-step instructions for guests, staff, and first responders to protect lives and property.</a:t>
            </a:r>
          </a:p>
        </p:txBody>
      </p:sp>
      <p:pic>
        <p:nvPicPr>
          <p:cNvPr id="116" name="Google Shape;116;p2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8"/>
          <p:cNvSpPr txBox="1"/>
          <p:nvPr/>
        </p:nvSpPr>
        <p:spPr>
          <a:xfrm>
            <a:off x="183250" y="818550"/>
            <a:ext cx="8784300" cy="14193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800"/>
              <a:buFont typeface="Arial"/>
              <a:buNone/>
              <a:defRPr sz="2000" b="1"/>
            </a:pPr>
            <a:r>
              <a:t>Opportunities:</a:t>
            </a:r>
            <a:endParaRPr sz="1800" b="0" i="0" u="none" strike="noStrike" cap="none" dirty="0">
              <a:solidFill>
                <a:srgbClr val="000000"/>
              </a:solidFill>
              <a:latin typeface="Google Sans"/>
              <a:ea typeface="Google Sans"/>
              <a:cs typeface="Google Sans"/>
              <a:sym typeface="Google Sans"/>
            </a:endParaRPr>
          </a:p>
          <a:p>
            <a:pPr>
              <a:defRPr sz="1600"/>
            </a:pPr>
            <a:r>
              <a:t>• Differentiation</a:t>
            </a:r>
          </a:p>
          <a:p>
            <a:pPr>
              <a:defRPr sz="1600"/>
            </a:pPr>
            <a:r>
              <a:t>• EvacuGuide offers highly customized, AI-generated evacuation plans tailored to specific venue types, occupancy, and crisis scenarios, differentiating it from generic emergency protocols. Its focus on real-time, actionable intelligence streamlines crisis management.</a:t>
            </a:r>
          </a:p>
          <a:p>
            <a:pPr>
              <a:defRPr sz="1600"/>
            </a:pPr>
            <a:r>
              <a:t>• Problem Solving Approach</a:t>
            </a:r>
          </a:p>
          <a:p>
            <a:pPr>
              <a:defRPr sz="1600"/>
            </a:pPr>
            <a:r>
              <a:t>• The application uses Gemini AI to synthesize user-defined venue parameters and crisis types into comprehensive, actionable evacuation plans. This approach eliminates manual plan creation, standardizes critical information flow, and ensures coordinated response efforts by providing clear roles, routes, and communication scripts.</a:t>
            </a:r>
          </a:p>
          <a:p>
            <a:pPr>
              <a:defRPr sz="1600"/>
            </a:pPr>
            <a:r>
              <a:t>• USP</a:t>
            </a:r>
          </a:p>
          <a:p>
            <a:pPr>
              <a:defRPr sz="1600"/>
            </a:pPr>
            <a:r>
              <a:t>• Instant, AI-powered, venue-specific evacuation plan generation for hospitality, ensuring coordinated, reliable crisis response and minimizing risk and communication breakdown during critical incidents.</a:t>
            </a:r>
          </a:p>
        </p:txBody>
      </p:sp>
      <p:pic>
        <p:nvPicPr>
          <p:cNvPr id="122" name="Google Shape;122;p28"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9"/>
          <p:cNvSpPr txBox="1"/>
          <p:nvPr/>
        </p:nvSpPr>
        <p:spPr>
          <a:xfrm>
            <a:off x="195475" y="855225"/>
            <a:ext cx="8698800" cy="54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000" b="1"/>
            </a:pPr>
            <a:r>
              <a:t>Features:</a:t>
            </a:r>
            <a:endParaRPr sz="1800" b="0" i="0" u="none" strike="noStrike" cap="none" dirty="0">
              <a:solidFill>
                <a:srgbClr val="000000"/>
              </a:solidFill>
              <a:latin typeface="Google Sans"/>
              <a:ea typeface="Google Sans"/>
              <a:cs typeface="Google Sans"/>
              <a:sym typeface="Google Sans"/>
            </a:endParaRPr>
          </a:p>
          <a:p>
            <a:pPr>
              <a:defRPr sz="1600"/>
            </a:pPr>
            <a:r>
              <a:t>• User input form for venue type (hotel/restaurant/event hall), number of floors, estimated occupancy, and crisis type (fire/flood/security/medical mass casualty).</a:t>
            </a:r>
          </a:p>
          <a:p>
            <a:pPr>
              <a:defRPr sz="1600"/>
            </a:pPr>
            <a:r>
              <a:t>• AI-powered generation of detailed, venue-specific evacuation plans using Google Gemini-2.5-flash.</a:t>
            </a:r>
          </a:p>
          <a:p>
            <a:pPr>
              <a:defRPr sz="1600"/>
            </a:pPr>
            <a:r>
              <a:t>• Output includes primary and backup evacuation routes, staff role assignments, guest announcement scripts, and special needs guest protocols.</a:t>
            </a:r>
          </a:p>
          <a:p>
            <a:pPr>
              <a:defRPr sz="1600"/>
            </a:pPr>
            <a:r>
              <a:t>• Clear visual display of results with hierarchy, not just raw text.</a:t>
            </a:r>
          </a:p>
          <a:p>
            <a:pPr>
              <a:defRPr sz="1600"/>
            </a:pPr>
            <a:r>
              <a:t>• Visually clear loading states during AI processing.</a:t>
            </a:r>
          </a:p>
          <a:p>
            <a:pPr>
              <a:defRPr sz="1600"/>
            </a:pPr>
            <a:r>
              <a:t>• Professional, polished, and responsive Flat Design UI.</a:t>
            </a:r>
          </a:p>
          <a:p>
            <a:pPr>
              <a:defRPr sz="1600"/>
            </a:pPr>
            <a:r>
              <a:t>• Graceful error handling for API calls.</a:t>
            </a:r>
          </a:p>
        </p:txBody>
      </p:sp>
      <p:pic>
        <p:nvPicPr>
          <p:cNvPr id="128" name="Google Shape;128;p29"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3"/>
          <p:cNvSpPr txBox="1"/>
          <p:nvPr/>
        </p:nvSpPr>
        <p:spPr>
          <a:xfrm>
            <a:off x="158825" y="855225"/>
            <a:ext cx="8784300" cy="1128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defRPr sz="2500" b="1"/>
            </a:pPr>
            <a:r>
              <a:t>Technologies:</a:t>
            </a:r>
            <a:endParaRPr sz="1200" b="0" i="0" u="none" strike="noStrike" cap="none" dirty="0">
              <a:solidFill>
                <a:srgbClr val="000000"/>
              </a:solidFill>
              <a:latin typeface="Google Sans"/>
              <a:ea typeface="Google Sans"/>
              <a:cs typeface="Google Sans"/>
              <a:sym typeface="Google Sans"/>
            </a:endParaRPr>
          </a:p>
          <a:p>
            <a:pPr>
              <a:defRPr sz="2100"/>
            </a:pPr>
            <a:r>
              <a:t>• Framework: Next.js 16 (App Router)</a:t>
            </a:r>
          </a:p>
          <a:p>
            <a:pPr>
              <a:defRPr sz="2100"/>
            </a:pPr>
            <a:r>
              <a:t>• Language: TypeScript (.tsx)</a:t>
            </a:r>
          </a:p>
          <a:p>
            <a:pPr>
              <a:defRPr sz="2100"/>
            </a:pPr>
            <a:r>
              <a:t>• Styling: Tailwind CSS + custom CSS variables</a:t>
            </a:r>
          </a:p>
          <a:p>
            <a:pPr>
              <a:defRPr sz="2100"/>
            </a:pPr>
            <a:r>
              <a:t>• Icons: lucide-react</a:t>
            </a:r>
          </a:p>
          <a:p>
            <a:pPr>
              <a:defRPr sz="2100"/>
            </a:pPr>
            <a:r>
              <a:t>• AI Integration: Google Gemini-2.5-flash API (`gemini-2.5-flash`)</a:t>
            </a:r>
          </a:p>
          <a:p>
            <a:pPr>
              <a:defRPr sz="2100"/>
            </a:pPr>
            <a:r>
              <a:t>• Node Engine: 24.x</a:t>
            </a:r>
          </a:p>
        </p:txBody>
      </p:sp>
      <p:pic>
        <p:nvPicPr>
          <p:cNvPr id="152" name="Google Shape;152;p33"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5"/>
          <p:cNvSpPr txBox="1"/>
          <p:nvPr/>
        </p:nvSpPr>
        <p:spPr>
          <a:xfrm>
            <a:off x="219900" y="855225"/>
            <a:ext cx="8723100" cy="598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Google Sans"/>
                <a:ea typeface="Google Sans"/>
                <a:cs typeface="Google Sans"/>
                <a:sym typeface="Google Sans"/>
              </a:rPr>
              <a:t>Snapshots of the MVP</a:t>
            </a:r>
            <a:endParaRPr sz="1800" b="0" i="0" u="none" strike="noStrike" cap="none">
              <a:solidFill>
                <a:srgbClr val="000000"/>
              </a:solidFill>
              <a:latin typeface="Google Sans"/>
              <a:ea typeface="Google Sans"/>
              <a:cs typeface="Google Sans"/>
              <a:sym typeface="Google Sans"/>
            </a:endParaRPr>
          </a:p>
        </p:txBody>
      </p:sp>
      <p:pic>
        <p:nvPicPr>
          <p:cNvPr id="164" name="Google Shape;164;p35" title="frameeeee.png"/>
          <p:cNvPicPr preferRelativeResize="0"/>
          <p:nvPr/>
        </p:nvPicPr>
        <p:blipFill>
          <a:blip r:embed="rId3">
            <a:alphaModFix/>
          </a:blip>
          <a:stretch>
            <a:fillRect/>
          </a:stretch>
        </p:blipFill>
        <p:spPr>
          <a:xfrm>
            <a:off x="0" y="0"/>
            <a:ext cx="9144003" cy="589347"/>
          </a:xfrm>
          <a:prstGeom prst="rect">
            <a:avLst/>
          </a:prstGeom>
          <a:noFill/>
          <a:ln>
            <a:noFill/>
          </a:ln>
        </p:spPr>
      </p:pic>
      <p:pic>
        <p:nvPicPr>
          <p:cNvPr id="3" name="Picture 2">
            <a:extLst>
              <a:ext uri="{FF2B5EF4-FFF2-40B4-BE49-F238E27FC236}">
                <a16:creationId xmlns:a16="http://schemas.microsoft.com/office/drawing/2014/main" id="{D52C7758-1791-75F4-F9F8-BF119D2CEED3}"/>
              </a:ext>
            </a:extLst>
          </p:cNvPr>
          <p:cNvPicPr>
            <a:picLocks noChangeAspect="1"/>
          </p:cNvPicPr>
          <p:nvPr/>
        </p:nvPicPr>
        <p:blipFill>
          <a:blip r:embed="rId4"/>
          <a:stretch>
            <a:fillRect/>
          </a:stretch>
        </p:blipFill>
        <p:spPr>
          <a:xfrm>
            <a:off x="2348546" y="1197992"/>
            <a:ext cx="4961930" cy="381139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7"/>
          <p:cNvSpPr txBox="1"/>
          <p:nvPr/>
        </p:nvSpPr>
        <p:spPr>
          <a:xfrm>
            <a:off x="146600" y="843000"/>
            <a:ext cx="8833200" cy="635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dirty="0">
                <a:solidFill>
                  <a:srgbClr val="000000"/>
                </a:solidFill>
                <a:latin typeface="Google Sans"/>
                <a:ea typeface="Google Sans"/>
                <a:cs typeface="Google Sans"/>
                <a:sym typeface="Google Sans"/>
              </a:rPr>
              <a:t>Links:</a:t>
            </a:r>
            <a:endParaRPr sz="1800" b="0" i="0" u="none" strike="noStrike" cap="none" dirty="0">
              <a:solidFill>
                <a:srgbClr val="000000"/>
              </a:solidFill>
              <a:latin typeface="Google Sans"/>
              <a:ea typeface="Google Sans"/>
              <a:cs typeface="Google Sans"/>
              <a:sym typeface="Google Sans"/>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Google Sans"/>
              <a:ea typeface="Google Sans"/>
              <a:cs typeface="Google Sans"/>
              <a:sym typeface="Google Sans"/>
            </a:endParaRPr>
          </a:p>
          <a:p>
            <a:pPr marL="457200" marR="0" lvl="0" indent="-342900" algn="l" rtl="0">
              <a:lnSpc>
                <a:spcPct val="100000"/>
              </a:lnSpc>
              <a:spcBef>
                <a:spcPts val="0"/>
              </a:spcBef>
              <a:spcAft>
                <a:spcPts val="0"/>
              </a:spcAft>
              <a:buClr>
                <a:srgbClr val="000000"/>
              </a:buClr>
              <a:buSzPts val="1800"/>
              <a:buFont typeface="Google Sans"/>
              <a:buAutoNum type="arabicPeriod"/>
            </a:pPr>
            <a:r>
              <a:rPr lang="en-GB" sz="1800" b="0" i="0" u="none" strike="noStrike" cap="none" dirty="0">
                <a:solidFill>
                  <a:srgbClr val="000000"/>
                </a:solidFill>
                <a:latin typeface="Google Sans"/>
                <a:ea typeface="Google Sans"/>
                <a:cs typeface="Google Sans"/>
                <a:sym typeface="Google Sans"/>
              </a:rPr>
              <a:t>GitHub Public Repository</a:t>
            </a:r>
            <a:endParaRPr sz="1800" b="0" i="0" u="none" strike="noStrike" cap="none" dirty="0">
              <a:solidFill>
                <a:srgbClr val="000000"/>
              </a:solidFill>
              <a:latin typeface="Google Sans"/>
              <a:ea typeface="Google Sans"/>
              <a:cs typeface="Google Sans"/>
              <a:sym typeface="Google Sans"/>
            </a:endParaRPr>
          </a:p>
          <a:p>
            <a:pPr marL="457200" lvl="0" indent="-342900">
              <a:buSzPts val="1800"/>
              <a:buFont typeface="Google Sans"/>
              <a:buAutoNum type="arabicPeriod"/>
            </a:pPr>
            <a:r>
              <a:rPr lang="en-GB" sz="1800" dirty="0">
                <a:latin typeface="Google Sans"/>
                <a:ea typeface="Google Sans"/>
                <a:cs typeface="Google Sans"/>
                <a:sym typeface="Google Sans"/>
              </a:rPr>
              <a:t>Working Prototype Link: https://evacuguide.vercel.app/</a:t>
            </a:r>
            <a:endParaRPr sz="1800" dirty="0">
              <a:latin typeface="Google Sans"/>
              <a:ea typeface="Google Sans"/>
              <a:cs typeface="Google Sans"/>
              <a:sym typeface="Google Sans"/>
            </a:endParaRPr>
          </a:p>
        </p:txBody>
      </p:sp>
      <p:pic>
        <p:nvPicPr>
          <p:cNvPr id="176" name="Google Shape;176;p37" title="frameeeee.png"/>
          <p:cNvPicPr preferRelativeResize="0"/>
          <p:nvPr/>
        </p:nvPicPr>
        <p:blipFill>
          <a:blip r:embed="rId3">
            <a:alphaModFix/>
          </a:blip>
          <a:stretch>
            <a:fillRect/>
          </a:stretch>
        </p:blipFill>
        <p:spPr>
          <a:xfrm>
            <a:off x="0" y="0"/>
            <a:ext cx="9144003" cy="58934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pic>
        <p:nvPicPr>
          <p:cNvPr id="186" name="Google Shape;186;p39" title="38d89ed3-9ded-48f6-b368-c62c46c50b68 1 [Vectorized].png"/>
          <p:cNvPicPr preferRelativeResize="0"/>
          <p:nvPr/>
        </p:nvPicPr>
        <p:blipFill rotWithShape="1">
          <a:blip r:embed="rId3">
            <a:alphaModFix/>
          </a:blip>
          <a:srcRect/>
          <a:stretch/>
        </p:blipFill>
        <p:spPr>
          <a:xfrm>
            <a:off x="4045"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398</Words>
  <Application>Microsoft Office PowerPoint</Application>
  <PresentationFormat>On-screen Show (16:9)</PresentationFormat>
  <Paragraphs>34</Paragraphs>
  <Slides>8</Slides>
  <Notes>8</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8</vt:i4>
      </vt:variant>
    </vt:vector>
  </HeadingPairs>
  <TitlesOfParts>
    <vt:vector size="12" baseType="lpstr">
      <vt:lpstr>Google Sans</vt:lpstr>
      <vt:lpstr>Arial</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Aryan Singh</cp:lastModifiedBy>
  <cp:revision>3</cp:revision>
  <dcterms:modified xsi:type="dcterms:W3CDTF">2026-04-23T19:20:56Z</dcterms:modified>
</cp:coreProperties>
</file>