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11"/>
  </p:notesMasterIdLst>
  <p:sldIdLst>
    <p:sldId id="257" r:id="rId3"/>
    <p:sldId id="258" r:id="rId4"/>
    <p:sldId id="259" r:id="rId5"/>
    <p:sldId id="260" r:id="rId6"/>
    <p:sldId id="264" r:id="rId7"/>
    <p:sldId id="266" r:id="rId8"/>
    <p:sldId id="268" r:id="rId9"/>
    <p:sldId id="270" r:id="rId10"/>
  </p:sldIdLst>
  <p:sldSz cx="9144000" cy="5143500" type="screen16x9"/>
  <p:notesSz cx="6858000" cy="9144000"/>
  <p:embeddedFontLst>
    <p:embeddedFont>
      <p:font typeface="Google Sans" panose="020B0604020202020204" charset="0"/>
      <p:regular r:id="rId12"/>
      <p:bold r:id="rId13"/>
      <p:italic r:id="rId14"/>
      <p:boldItalic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3" d="100"/>
          <a:sy n="63" d="100"/>
        </p:scale>
        <p:origin x="62" y="725"/>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font" Target="fonts/font2.fntdata"/><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font" Target="fonts/font1.fntdata"/><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font" Target="fonts/font4.fntdata"/><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c07f7ad1a1_2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 name="Google Shape;105;g3c07f7ad1a1_2_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c07f7ad1a1_2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3" name="Google Shape;113;g3c07f7ad1a1_2_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c07f7ad1a1_2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9" name="Google Shape;119;g3c07f7ad1a1_2_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c07f7ad1a1_2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5" name="Google Shape;125;g3c07f7ad1a1_2_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c07f7ad1a1_2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9" name="Google Shape;149;g3c07f7ad1a1_2_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c07f7ad1a1_2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1" name="Google Shape;161;g3c07f7ad1a1_2_10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c07f7ad1a1_2_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g3c07f7ad1a1_2_1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c07f7ad1a1_2_1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4" name="Google Shape;184;g3c07f7ad1a1_2_1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4"/>
        <p:cNvGrpSpPr/>
        <p:nvPr/>
      </p:nvGrpSpPr>
      <p:grpSpPr>
        <a:xfrm>
          <a:off x="0" y="0"/>
          <a:ext cx="0" cy="0"/>
          <a:chOff x="0" y="0"/>
          <a:chExt cx="0" cy="0"/>
        </a:xfrm>
      </p:grpSpPr>
      <p:sp>
        <p:nvSpPr>
          <p:cNvPr id="55" name="Google Shape;55;p1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56" name="Google Shape;56;p1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57" name="Google Shape;57;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60" name="Google Shape;6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1"/>
        <p:cNvGrpSpPr/>
        <p:nvPr/>
      </p:nvGrpSpPr>
      <p:grpSpPr>
        <a:xfrm>
          <a:off x="0" y="0"/>
          <a:ext cx="0" cy="0"/>
          <a:chOff x="0" y="0"/>
          <a:chExt cx="0" cy="0"/>
        </a:xfrm>
      </p:grpSpPr>
      <p:sp>
        <p:nvSpPr>
          <p:cNvPr id="62" name="Google Shape;62;p1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3" name="Google Shape;63;p1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64" name="Google Shape;64;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5"/>
        <p:cNvGrpSpPr/>
        <p:nvPr/>
      </p:nvGrpSpPr>
      <p:grpSpPr>
        <a:xfrm>
          <a:off x="0" y="0"/>
          <a:ext cx="0" cy="0"/>
          <a:chOff x="0" y="0"/>
          <a:chExt cx="0" cy="0"/>
        </a:xfrm>
      </p:grpSpPr>
      <p:sp>
        <p:nvSpPr>
          <p:cNvPr id="66" name="Google Shape;66;p1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7" name="Google Shape;67;p17"/>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8" name="Google Shape;68;p17"/>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9" name="Google Shape;69;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0"/>
        <p:cNvGrpSpPr/>
        <p:nvPr/>
      </p:nvGrpSpPr>
      <p:grpSpPr>
        <a:xfrm>
          <a:off x="0" y="0"/>
          <a:ext cx="0" cy="0"/>
          <a:chOff x="0" y="0"/>
          <a:chExt cx="0" cy="0"/>
        </a:xfrm>
      </p:grpSpPr>
      <p:sp>
        <p:nvSpPr>
          <p:cNvPr id="71" name="Google Shape;71;p1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72" name="Google Shape;72;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3"/>
        <p:cNvGrpSpPr/>
        <p:nvPr/>
      </p:nvGrpSpPr>
      <p:grpSpPr>
        <a:xfrm>
          <a:off x="0" y="0"/>
          <a:ext cx="0" cy="0"/>
          <a:chOff x="0" y="0"/>
          <a:chExt cx="0" cy="0"/>
        </a:xfrm>
      </p:grpSpPr>
      <p:sp>
        <p:nvSpPr>
          <p:cNvPr id="74" name="Google Shape;74;p19"/>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75" name="Google Shape;75;p19"/>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76" name="Google Shape;76;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7"/>
        <p:cNvGrpSpPr/>
        <p:nvPr/>
      </p:nvGrpSpPr>
      <p:grpSpPr>
        <a:xfrm>
          <a:off x="0" y="0"/>
          <a:ext cx="0" cy="0"/>
          <a:chOff x="0" y="0"/>
          <a:chExt cx="0" cy="0"/>
        </a:xfrm>
      </p:grpSpPr>
      <p:sp>
        <p:nvSpPr>
          <p:cNvPr id="78" name="Google Shape;78;p2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79" name="Google Shape;79;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2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83" name="Google Shape;83;p2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84" name="Google Shape;84;p2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85" name="Google Shape;85;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
        <p:cNvGrpSpPr/>
        <p:nvPr/>
      </p:nvGrpSpPr>
      <p:grpSpPr>
        <a:xfrm>
          <a:off x="0" y="0"/>
          <a:ext cx="0" cy="0"/>
          <a:chOff x="0" y="0"/>
          <a:chExt cx="0" cy="0"/>
        </a:xfrm>
      </p:grpSpPr>
      <p:sp>
        <p:nvSpPr>
          <p:cNvPr id="87" name="Google Shape;87;p22"/>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88" name="Google Shape;88;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9"/>
        <p:cNvGrpSpPr/>
        <p:nvPr/>
      </p:nvGrpSpPr>
      <p:grpSpPr>
        <a:xfrm>
          <a:off x="0" y="0"/>
          <a:ext cx="0" cy="0"/>
          <a:chOff x="0" y="0"/>
          <a:chExt cx="0" cy="0"/>
        </a:xfrm>
      </p:grpSpPr>
      <p:sp>
        <p:nvSpPr>
          <p:cNvPr id="90" name="Google Shape;90;p2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1" name="Google Shape;91;p23"/>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92" name="Google Shape;92;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3"/>
        <p:cNvGrpSpPr/>
        <p:nvPr/>
      </p:nvGrpSpPr>
      <p:grpSpPr>
        <a:xfrm>
          <a:off x="0" y="0"/>
          <a:ext cx="0" cy="0"/>
          <a:chOff x="0" y="0"/>
          <a:chExt cx="0" cy="0"/>
        </a:xfrm>
      </p:grpSpPr>
      <p:sp>
        <p:nvSpPr>
          <p:cNvPr id="94" name="Google Shape;94;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52" name="Google Shape;52;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53" name="Google Shape;5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6"/>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2800"/>
              <a:buNone/>
            </a:pPr>
            <a:endParaRPr/>
          </a:p>
        </p:txBody>
      </p:sp>
      <p:pic>
        <p:nvPicPr>
          <p:cNvPr id="108" name="Google Shape;108;p26"/>
          <p:cNvPicPr preferRelativeResize="0"/>
          <p:nvPr/>
        </p:nvPicPr>
        <p:blipFill rotWithShape="1">
          <a:blip r:embed="rId3">
            <a:alphaModFix/>
          </a:blip>
          <a:srcRect t="47611"/>
          <a:stretch/>
        </p:blipFill>
        <p:spPr>
          <a:xfrm>
            <a:off x="0" y="2448875"/>
            <a:ext cx="9144000" cy="2694624"/>
          </a:xfrm>
          <a:prstGeom prst="rect">
            <a:avLst/>
          </a:prstGeom>
          <a:noFill/>
          <a:ln>
            <a:noFill/>
          </a:ln>
        </p:spPr>
      </p:pic>
      <p:sp>
        <p:nvSpPr>
          <p:cNvPr id="109" name="Google Shape;109;p26"/>
          <p:cNvSpPr txBox="1"/>
          <p:nvPr/>
        </p:nvSpPr>
        <p:spPr>
          <a:xfrm>
            <a:off x="146600" y="2895500"/>
            <a:ext cx="8760000" cy="2003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rgbClr val="000000"/>
                </a:solidFill>
                <a:latin typeface="Google Sans"/>
                <a:ea typeface="Google Sans"/>
                <a:cs typeface="Google Sans"/>
                <a:sym typeface="Google Sans"/>
              </a:rPr>
              <a:t>Team Details</a:t>
            </a:r>
            <a:endParaRPr sz="1800" b="1"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000000"/>
              </a:solidFill>
              <a:latin typeface="Google Sans"/>
              <a:ea typeface="Google Sans"/>
              <a:cs typeface="Google Sans"/>
              <a:sym typeface="Google Sans"/>
            </a:endParaRPr>
          </a:p>
          <a:p>
            <a:pPr marL="914400" marR="0" lvl="1" indent="-342900" algn="l" rtl="0">
              <a:lnSpc>
                <a:spcPct val="100000"/>
              </a:lnSpc>
              <a:spcBef>
                <a:spcPts val="0"/>
              </a:spcBef>
              <a:spcAft>
                <a:spcPts val="0"/>
              </a:spcAft>
              <a:buClr>
                <a:srgbClr val="000000"/>
              </a:buClr>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Team name: </a:t>
            </a:r>
            <a:endParaRPr sz="1800" b="1" i="0" u="none" strike="noStrike" cap="none" dirty="0">
              <a:solidFill>
                <a:srgbClr val="000000"/>
              </a:solidFill>
              <a:latin typeface="Google Sans"/>
              <a:ea typeface="Google Sans"/>
              <a:cs typeface="Google Sans"/>
              <a:sym typeface="Google Sans"/>
            </a:endParaRPr>
          </a:p>
          <a:p>
            <a:pPr marL="914400" marR="0" lvl="1" indent="-342900" algn="l" rtl="0">
              <a:lnSpc>
                <a:spcPct val="100000"/>
              </a:lnSpc>
              <a:spcBef>
                <a:spcPts val="0"/>
              </a:spcBef>
              <a:spcAft>
                <a:spcPts val="0"/>
              </a:spcAft>
              <a:buClr>
                <a:srgbClr val="000000"/>
              </a:buClr>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Team leader name: </a:t>
            </a:r>
            <a:endParaRPr sz="1800" b="1" i="0" u="none" strike="noStrike" cap="none" dirty="0">
              <a:solidFill>
                <a:srgbClr val="000000"/>
              </a:solidFill>
              <a:latin typeface="Google Sans"/>
              <a:ea typeface="Google Sans"/>
              <a:cs typeface="Google Sans"/>
              <a:sym typeface="Google Sans"/>
            </a:endParaRPr>
          </a:p>
          <a:p>
            <a:pPr marL="914400" lvl="1" indent="-342900">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Problem Statement:</a:t>
            </a:r>
            <a:r>
              <a:rPr lang="en-GB" sz="1800" b="1" dirty="0">
                <a:latin typeface="Google Sans"/>
                <a:ea typeface="Google Sans"/>
                <a:cs typeface="Google Sans"/>
                <a:sym typeface="Google Sans"/>
              </a:rPr>
              <a:t> Unbiased AI Decision</a:t>
            </a:r>
            <a:r>
              <a:rPr lang="en-GB" sz="1800" b="1" i="0" u="none" strike="noStrike" cap="none" dirty="0">
                <a:solidFill>
                  <a:srgbClr val="000000"/>
                </a:solidFill>
                <a:latin typeface="Google Sans"/>
                <a:ea typeface="Google Sans"/>
                <a:cs typeface="Google Sans"/>
                <a:sym typeface="Google Sans"/>
              </a:rPr>
              <a:t> </a:t>
            </a:r>
            <a:endParaRPr sz="1800" b="1"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000000"/>
              </a:solidFill>
              <a:latin typeface="Arial"/>
              <a:ea typeface="Arial"/>
              <a:cs typeface="Arial"/>
              <a:sym typeface="Arial"/>
            </a:endParaRPr>
          </a:p>
        </p:txBody>
      </p:sp>
      <p:pic>
        <p:nvPicPr>
          <p:cNvPr id="110" name="Google Shape;110;p26" title="Frame 96.png"/>
          <p:cNvPicPr preferRelativeResize="0"/>
          <p:nvPr/>
        </p:nvPicPr>
        <p:blipFill rotWithShape="1">
          <a:blip r:embed="rId4">
            <a:alphaModFix/>
          </a:blip>
          <a:srcRect/>
          <a:stretch/>
        </p:blipFill>
        <p:spPr>
          <a:xfrm>
            <a:off x="0" y="0"/>
            <a:ext cx="9143997" cy="275927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7"/>
          <p:cNvSpPr txBox="1"/>
          <p:nvPr/>
        </p:nvSpPr>
        <p:spPr>
          <a:xfrm>
            <a:off x="85525" y="806350"/>
            <a:ext cx="8943000" cy="561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500" b="1"/>
            </a:pPr>
            <a:r>
              <a:t>Brief:</a:t>
            </a:r>
            <a:endParaRPr sz="1800" b="0" i="0" u="none" strike="noStrike" cap="none" dirty="0">
              <a:solidFill>
                <a:srgbClr val="000000"/>
              </a:solidFill>
              <a:latin typeface="Google Sans"/>
              <a:ea typeface="Google Sans"/>
              <a:cs typeface="Google Sans"/>
              <a:sym typeface="Google Sans"/>
            </a:endParaRPr>
          </a:p>
          <a:p>
            <a:pPr>
              <a:defRPr sz="2100"/>
            </a:pPr>
            <a:r>
              <a:t>DecisionTrace is a Next.js 16 application designed to promote algorithmic accountability by translating complex automated decisions into plain language. Users input details of an automated decision, and the tool leverages Gemini AI to provide clear explanations of the decision's logic, key influencing factors, potential changes for a different outcome, and the user's rights. This ensures fairness and transparency in AI-driven processes, making critical decisions understandable to everyone.</a:t>
            </a:r>
          </a:p>
        </p:txBody>
      </p:sp>
      <p:pic>
        <p:nvPicPr>
          <p:cNvPr id="116" name="Google Shape;116;p27"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8"/>
          <p:cNvSpPr txBox="1"/>
          <p:nvPr/>
        </p:nvSpPr>
        <p:spPr>
          <a:xfrm>
            <a:off x="183250" y="818550"/>
            <a:ext cx="8784300" cy="14193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800"/>
              <a:buFont typeface="Arial"/>
              <a:buNone/>
              <a:defRPr sz="2000" b="1"/>
            </a:pPr>
            <a:r>
              <a:t>Opportunities:</a:t>
            </a:r>
            <a:endParaRPr sz="1800" b="0" i="0" u="none" strike="noStrike" cap="none" dirty="0">
              <a:solidFill>
                <a:srgbClr val="000000"/>
              </a:solidFill>
              <a:latin typeface="Google Sans"/>
              <a:ea typeface="Google Sans"/>
              <a:cs typeface="Google Sans"/>
              <a:sym typeface="Google Sans"/>
            </a:endParaRPr>
          </a:p>
          <a:p>
            <a:pPr>
              <a:defRPr sz="1600"/>
            </a:pPr>
            <a:r>
              <a:t>• Differentiation</a:t>
            </a:r>
          </a:p>
          <a:p>
            <a:pPr>
              <a:defRPr sz="1600"/>
            </a:pPr>
            <a:r>
              <a:t>• DecisionTrace stands out by offering a hyper-minimalist, typography-first UI that prioritizes clarity and ease of use over visual clutter. Its focus on translating opaque AI decisions into actionable, plain-language insights addresses a critical gap in algorithmic accountability.</a:t>
            </a:r>
          </a:p>
          <a:p>
            <a:pPr>
              <a:defRPr sz="1600"/>
            </a:pPr>
            <a:r>
              <a:t>• Problem Solving Approach</a:t>
            </a:r>
          </a:p>
          <a:p>
            <a:pPr>
              <a:defRPr sz="1600"/>
            </a:pPr>
            <a:r>
              <a:t>• The solution tackles the problem of biased AI by providing a direct interface for users to understand *why* an automated decision was made. By surfacing the factors influencing a decision and potential avenues for recourse, it empowers individuals and encourages organizations to address biases proactively.</a:t>
            </a:r>
          </a:p>
          <a:p>
            <a:pPr>
              <a:defRPr sz="1600"/>
            </a:pPr>
            <a:r>
              <a:t>• USP</a:t>
            </a:r>
          </a:p>
          <a:p>
            <a:pPr>
              <a:defRPr sz="1600"/>
            </a:pPr>
            <a:r>
              <a:t>• Plain-language explanation of complex AI decisions, delivered through an ultra-minimalist, accessible UI, fostering transparency and accountability.</a:t>
            </a:r>
          </a:p>
        </p:txBody>
      </p:sp>
      <p:pic>
        <p:nvPicPr>
          <p:cNvPr id="122" name="Google Shape;122;p28"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9"/>
          <p:cNvSpPr txBox="1"/>
          <p:nvPr/>
        </p:nvSpPr>
        <p:spPr>
          <a:xfrm>
            <a:off x="195475" y="855225"/>
            <a:ext cx="8698800" cy="54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000" b="1"/>
            </a:pPr>
            <a:r>
              <a:t>Features:</a:t>
            </a:r>
            <a:endParaRPr sz="1800" b="0" i="0" u="none" strike="noStrike" cap="none" dirty="0">
              <a:solidFill>
                <a:srgbClr val="000000"/>
              </a:solidFill>
              <a:latin typeface="Google Sans"/>
              <a:ea typeface="Google Sans"/>
              <a:cs typeface="Google Sans"/>
              <a:sym typeface="Google Sans"/>
            </a:endParaRPr>
          </a:p>
          <a:p>
            <a:pPr>
              <a:defRPr sz="1600"/>
            </a:pPr>
            <a:r>
              <a:t>• User-friendly form for inputting automated decision details.</a:t>
            </a:r>
          </a:p>
          <a:p>
            <a:pPr>
              <a:defRPr sz="1600"/>
            </a:pPr>
            <a:r>
              <a:t>• Real-time loading state for AI analysis.</a:t>
            </a:r>
          </a:p>
          <a:p>
            <a:pPr>
              <a:defRPr sz="1600"/>
            </a:pPr>
            <a:r>
              <a:t>• Clear, hierarchical display of Gemini AI-generated explanations.</a:t>
            </a:r>
          </a:p>
          <a:p>
            <a:pPr>
              <a:defRPr sz="1600"/>
            </a:pPr>
            <a:r>
              <a:t>• Comprehensive plain-language breakdown: decision logic, key factors, outcome modifiers, and user rights.</a:t>
            </a:r>
          </a:p>
          <a:p>
            <a:pPr>
              <a:defRPr sz="1600"/>
            </a:pPr>
            <a:r>
              <a:t>• Fully responsive design adhering to minimalist principles.</a:t>
            </a:r>
          </a:p>
          <a:p>
            <a:pPr>
              <a:defRPr sz="1600"/>
            </a:pPr>
            <a:r>
              <a:t>• Error handling for a robust user experience.</a:t>
            </a:r>
          </a:p>
        </p:txBody>
      </p:sp>
      <p:pic>
        <p:nvPicPr>
          <p:cNvPr id="128" name="Google Shape;128;p29"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3"/>
          <p:cNvSpPr txBox="1"/>
          <p:nvPr/>
        </p:nvSpPr>
        <p:spPr>
          <a:xfrm>
            <a:off x="158825" y="855225"/>
            <a:ext cx="8784300" cy="1128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500" b="1"/>
            </a:pPr>
            <a:r>
              <a:t>Technologies:</a:t>
            </a:r>
            <a:endParaRPr sz="1200" b="0" i="0" u="none" strike="noStrike" cap="none" dirty="0">
              <a:solidFill>
                <a:srgbClr val="000000"/>
              </a:solidFill>
              <a:latin typeface="Google Sans"/>
              <a:ea typeface="Google Sans"/>
              <a:cs typeface="Google Sans"/>
              <a:sym typeface="Google Sans"/>
            </a:endParaRPr>
          </a:p>
          <a:p>
            <a:pPr>
              <a:defRPr sz="2100"/>
            </a:pPr>
            <a:r>
              <a:t>• Framework: Next.js 16 (App Router)</a:t>
            </a:r>
          </a:p>
          <a:p>
            <a:pPr>
              <a:defRPr sz="2100"/>
            </a:pPr>
            <a:r>
              <a:t>• Language: TypeScript</a:t>
            </a:r>
          </a:p>
          <a:p>
            <a:pPr>
              <a:defRPr sz="2100"/>
            </a:pPr>
            <a:r>
              <a:t>• Styling: Tailwind CSS</a:t>
            </a:r>
          </a:p>
          <a:p>
            <a:pPr>
              <a:defRPr sz="2100"/>
            </a:pPr>
            <a:r>
              <a:t>• AI Integration: Gemini API (`gemini-2.5-flash`)</a:t>
            </a:r>
          </a:p>
          <a:p>
            <a:pPr>
              <a:defRPr sz="2100"/>
            </a:pPr>
            <a:r>
              <a:t>• Icons: Lucide React</a:t>
            </a:r>
          </a:p>
        </p:txBody>
      </p:sp>
      <p:pic>
        <p:nvPicPr>
          <p:cNvPr id="152" name="Google Shape;152;p33"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35"/>
          <p:cNvSpPr txBox="1"/>
          <p:nvPr/>
        </p:nvSpPr>
        <p:spPr>
          <a:xfrm>
            <a:off x="219900" y="855225"/>
            <a:ext cx="8723100" cy="598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Google Sans"/>
                <a:ea typeface="Google Sans"/>
                <a:cs typeface="Google Sans"/>
                <a:sym typeface="Google Sans"/>
              </a:rPr>
              <a:t>Snapshots of the MVP</a:t>
            </a:r>
            <a:endParaRPr sz="1800" b="0" i="0" u="none" strike="noStrike" cap="none">
              <a:solidFill>
                <a:srgbClr val="000000"/>
              </a:solidFill>
              <a:latin typeface="Google Sans"/>
              <a:ea typeface="Google Sans"/>
              <a:cs typeface="Google Sans"/>
              <a:sym typeface="Google Sans"/>
            </a:endParaRPr>
          </a:p>
        </p:txBody>
      </p:sp>
      <p:pic>
        <p:nvPicPr>
          <p:cNvPr id="164" name="Google Shape;164;p35" title="frameeeee.png"/>
          <p:cNvPicPr preferRelativeResize="0"/>
          <p:nvPr/>
        </p:nvPicPr>
        <p:blipFill>
          <a:blip r:embed="rId3">
            <a:alphaModFix/>
          </a:blip>
          <a:stretch>
            <a:fillRect/>
          </a:stretch>
        </p:blipFill>
        <p:spPr>
          <a:xfrm>
            <a:off x="0" y="0"/>
            <a:ext cx="9144003" cy="589347"/>
          </a:xfrm>
          <a:prstGeom prst="rect">
            <a:avLst/>
          </a:prstGeom>
          <a:noFill/>
          <a:ln>
            <a:noFill/>
          </a:ln>
        </p:spPr>
      </p:pic>
      <p:pic>
        <p:nvPicPr>
          <p:cNvPr id="3" name="Picture 2">
            <a:extLst>
              <a:ext uri="{FF2B5EF4-FFF2-40B4-BE49-F238E27FC236}">
                <a16:creationId xmlns:a16="http://schemas.microsoft.com/office/drawing/2014/main" id="{1592B7F2-006A-7742-CF55-306DEBAB9C6D}"/>
              </a:ext>
            </a:extLst>
          </p:cNvPr>
          <p:cNvPicPr>
            <a:picLocks noChangeAspect="1"/>
          </p:cNvPicPr>
          <p:nvPr/>
        </p:nvPicPr>
        <p:blipFill>
          <a:blip r:embed="rId4"/>
          <a:stretch>
            <a:fillRect/>
          </a:stretch>
        </p:blipFill>
        <p:spPr>
          <a:xfrm>
            <a:off x="3191009" y="855225"/>
            <a:ext cx="3139646" cy="410718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37"/>
          <p:cNvSpPr txBox="1"/>
          <p:nvPr/>
        </p:nvSpPr>
        <p:spPr>
          <a:xfrm>
            <a:off x="146600" y="843000"/>
            <a:ext cx="8833200" cy="635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Google Sans"/>
                <a:ea typeface="Google Sans"/>
                <a:cs typeface="Google Sans"/>
                <a:sym typeface="Google Sans"/>
              </a:rPr>
              <a:t>Links:</a:t>
            </a:r>
            <a:endParaRPr sz="1800" b="0"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Google Sans"/>
              <a:ea typeface="Google Sans"/>
              <a:cs typeface="Google Sans"/>
              <a:sym typeface="Google Sans"/>
            </a:endParaRPr>
          </a:p>
          <a:p>
            <a:pPr marL="457200" marR="0" lvl="0" indent="-342900" algn="l" rtl="0">
              <a:lnSpc>
                <a:spcPct val="100000"/>
              </a:lnSpc>
              <a:spcBef>
                <a:spcPts val="0"/>
              </a:spcBef>
              <a:spcAft>
                <a:spcPts val="0"/>
              </a:spcAft>
              <a:buClr>
                <a:srgbClr val="000000"/>
              </a:buClr>
              <a:buSzPts val="1800"/>
              <a:buFont typeface="Google Sans"/>
              <a:buAutoNum type="arabicPeriod"/>
            </a:pPr>
            <a:r>
              <a:rPr lang="en-GB" sz="1800" b="0" i="0" u="none" strike="noStrike" cap="none" dirty="0">
                <a:solidFill>
                  <a:srgbClr val="000000"/>
                </a:solidFill>
                <a:latin typeface="Google Sans"/>
                <a:ea typeface="Google Sans"/>
                <a:cs typeface="Google Sans"/>
                <a:sym typeface="Google Sans"/>
              </a:rPr>
              <a:t>GitHub Public Repository</a:t>
            </a:r>
            <a:endParaRPr sz="1800" b="0" i="0" u="none" strike="noStrike" cap="none" dirty="0">
              <a:solidFill>
                <a:srgbClr val="000000"/>
              </a:solidFill>
              <a:latin typeface="Google Sans"/>
              <a:ea typeface="Google Sans"/>
              <a:cs typeface="Google Sans"/>
              <a:sym typeface="Google Sans"/>
            </a:endParaRPr>
          </a:p>
          <a:p>
            <a:pPr marL="457200" lvl="0" indent="-342900">
              <a:buSzPts val="1800"/>
              <a:buFont typeface="Google Sans"/>
              <a:buAutoNum type="arabicPeriod"/>
            </a:pPr>
            <a:r>
              <a:rPr lang="en-GB" sz="1800" dirty="0">
                <a:latin typeface="Google Sans"/>
                <a:ea typeface="Google Sans"/>
                <a:cs typeface="Google Sans"/>
                <a:sym typeface="Google Sans"/>
              </a:rPr>
              <a:t>Working Prototype Link: https://decisiontrace-sc.vercel.app/</a:t>
            </a:r>
            <a:endParaRPr sz="1800" dirty="0">
              <a:latin typeface="Google Sans"/>
              <a:ea typeface="Google Sans"/>
              <a:cs typeface="Google Sans"/>
              <a:sym typeface="Google Sans"/>
            </a:endParaRPr>
          </a:p>
        </p:txBody>
      </p:sp>
      <p:pic>
        <p:nvPicPr>
          <p:cNvPr id="176" name="Google Shape;176;p37"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pic>
        <p:nvPicPr>
          <p:cNvPr id="186" name="Google Shape;186;p39" title="38d89ed3-9ded-48f6-b368-c62c46c50b68 1 [Vectorized].png"/>
          <p:cNvPicPr preferRelativeResize="0"/>
          <p:nvPr/>
        </p:nvPicPr>
        <p:blipFill rotWithShape="1">
          <a:blip r:embed="rId3">
            <a:alphaModFix/>
          </a:blip>
          <a:srcRect/>
          <a:stretch/>
        </p:blipFill>
        <p:spPr>
          <a:xfrm>
            <a:off x="4045" y="0"/>
            <a:ext cx="9144018" cy="5143501"/>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340</Words>
  <Application>Microsoft Office PowerPoint</Application>
  <PresentationFormat>On-screen Show (16:9)</PresentationFormat>
  <Paragraphs>32</Paragraphs>
  <Slides>8</Slides>
  <Notes>8</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8</vt:i4>
      </vt:variant>
    </vt:vector>
  </HeadingPairs>
  <TitlesOfParts>
    <vt:vector size="12" baseType="lpstr">
      <vt:lpstr>Google Sans</vt:lpstr>
      <vt:lpstr>Arial</vt:lpstr>
      <vt:lpstr>Simple Light</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Aryan Singh</cp:lastModifiedBy>
  <cp:revision>3</cp:revision>
  <dcterms:modified xsi:type="dcterms:W3CDTF">2026-04-23T19:32:52Z</dcterms:modified>
</cp:coreProperties>
</file>