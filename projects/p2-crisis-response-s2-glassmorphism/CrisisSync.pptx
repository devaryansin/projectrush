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11"/>
  </p:notesMasterIdLst>
  <p:sldIdLst>
    <p:sldId id="257" r:id="rId3"/>
    <p:sldId id="258" r:id="rId4"/>
    <p:sldId id="259" r:id="rId5"/>
    <p:sldId id="260" r:id="rId6"/>
    <p:sldId id="264" r:id="rId7"/>
    <p:sldId id="266" r:id="rId8"/>
    <p:sldId id="268" r:id="rId9"/>
    <p:sldId id="270" r:id="rId10"/>
  </p:sldIdLst>
  <p:sldSz cx="9144000" cy="5143500" type="screen16x9"/>
  <p:notesSz cx="6858000" cy="9144000"/>
  <p:embeddedFontLst>
    <p:embeddedFont>
      <p:font typeface="Google Sans" panose="020B0604020202020204"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62" y="725"/>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font" Target="fonts/font4.fntdata"/><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c07f7ad1a1_2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3c07f7ad1a1_2_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c07f7ad1a1_2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g3c07f7ad1a1_2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c07f7ad1a1_2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3c07f7ad1a1_2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c07f7ad1a1_2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g3c07f7ad1a1_2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c07f7ad1a1_2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g3c07f7ad1a1_2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c07f7ad1a1_2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3c07f7ad1a1_2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c07f7ad1a1_2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c07f7ad1a1_2_1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c07f7ad1a1_2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g3c07f7ad1a1_2_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endParaRPr/>
          </a:p>
        </p:txBody>
      </p:sp>
      <p:pic>
        <p:nvPicPr>
          <p:cNvPr id="108" name="Google Shape;108;p26"/>
          <p:cNvPicPr preferRelativeResize="0"/>
          <p:nvPr/>
        </p:nvPicPr>
        <p:blipFill rotWithShape="1">
          <a:blip r:embed="rId3">
            <a:alphaModFix/>
          </a:blip>
          <a:srcRect t="47611"/>
          <a:stretch/>
        </p:blipFill>
        <p:spPr>
          <a:xfrm>
            <a:off x="0" y="2448875"/>
            <a:ext cx="9144000" cy="2694624"/>
          </a:xfrm>
          <a:prstGeom prst="rect">
            <a:avLst/>
          </a:prstGeom>
          <a:noFill/>
          <a:ln>
            <a:noFill/>
          </a:ln>
        </p:spPr>
      </p:pic>
      <p:sp>
        <p:nvSpPr>
          <p:cNvPr id="109" name="Google Shape;109;p26"/>
          <p:cNvSpPr txBox="1"/>
          <p:nvPr/>
        </p:nvSpPr>
        <p:spPr>
          <a:xfrm>
            <a:off x="146600" y="2895500"/>
            <a:ext cx="8760000" cy="2003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000000"/>
                </a:solidFill>
                <a:latin typeface="Google Sans"/>
                <a:ea typeface="Google Sans"/>
                <a:cs typeface="Google Sans"/>
                <a:sym typeface="Google Sans"/>
              </a:rPr>
              <a:t>Team Details</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name: </a:t>
            </a: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leader name: </a:t>
            </a:r>
            <a:endParaRPr sz="1800" b="1" i="0" u="none" strike="noStrike" cap="none" dirty="0">
              <a:solidFill>
                <a:srgbClr val="000000"/>
              </a:solidFill>
              <a:latin typeface="Google Sans"/>
              <a:ea typeface="Google Sans"/>
              <a:cs typeface="Google Sans"/>
              <a:sym typeface="Google Sans"/>
            </a:endParaRPr>
          </a:p>
          <a:p>
            <a:pPr marL="914400" lvl="1" indent="-342900">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Problem Statement: </a:t>
            </a:r>
            <a:r>
              <a:rPr lang="en-GB" sz="1800" b="1" dirty="0">
                <a:latin typeface="Google Sans"/>
                <a:ea typeface="Google Sans"/>
                <a:cs typeface="Google Sans"/>
                <a:sym typeface="Google Sans"/>
              </a:rPr>
              <a:t>Rapid Crisis Response</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Arial"/>
              <a:ea typeface="Arial"/>
              <a:cs typeface="Arial"/>
              <a:sym typeface="Arial"/>
            </a:endParaRPr>
          </a:p>
        </p:txBody>
      </p:sp>
      <p:pic>
        <p:nvPicPr>
          <p:cNvPr id="110" name="Google Shape;110;p26" title="Frame 96.png"/>
          <p:cNvPicPr preferRelativeResize="0"/>
          <p:nvPr/>
        </p:nvPicPr>
        <p:blipFill rotWithShape="1">
          <a:blip r:embed="rId4">
            <a:alphaModFix/>
          </a:blip>
          <a:srcRect/>
          <a:stretch/>
        </p:blipFill>
        <p:spPr>
          <a:xfrm>
            <a:off x="0" y="0"/>
            <a:ext cx="9143997" cy="275927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7"/>
          <p:cNvSpPr txBox="1"/>
          <p:nvPr/>
        </p:nvSpPr>
        <p:spPr>
          <a:xfrm>
            <a:off x="85525" y="806350"/>
            <a:ext cx="8943000" cy="56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500" b="1"/>
            </a:pPr>
            <a:r>
              <a:t>Brief:</a:t>
            </a:r>
            <a:endParaRPr sz="1800" b="0" i="0" u="none" strike="noStrike" cap="none" dirty="0">
              <a:solidFill>
                <a:srgbClr val="000000"/>
              </a:solidFill>
              <a:latin typeface="Google Sans"/>
              <a:ea typeface="Google Sans"/>
              <a:cs typeface="Google Sans"/>
              <a:sym typeface="Google Sans"/>
            </a:endParaRPr>
          </a:p>
          <a:p>
            <a:pPr>
              <a:defRPr sz="2100"/>
            </a:pPr>
            <a:r>
              <a:t>CrisisSync is a Next.js 16 web application designed for rapid, coordinated emergency response in hospitality venues. It eliminates fragmented communication during high-stakes incidents by generating real-time, role-specific crisis coordination checklists. Users input incident details, and Gemini AI instantly provides prioritized actions, assigned responsibilities, and escalation triggers, bridging the gap between distressed individuals, staff, and emergency services. The UI features a polished Glassmorphism design with an urgent red and cool white palette for intuitive and efficient crisis management.</a:t>
            </a:r>
          </a:p>
        </p:txBody>
      </p:sp>
      <p:pic>
        <p:nvPicPr>
          <p:cNvPr id="116" name="Google Shape;116;p2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8"/>
          <p:cNvSpPr txBox="1"/>
          <p:nvPr/>
        </p:nvSpPr>
        <p:spPr>
          <a:xfrm>
            <a:off x="183250" y="818550"/>
            <a:ext cx="8784300" cy="1419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defRPr sz="2000" b="1"/>
            </a:pPr>
            <a:r>
              <a:t>Opportunities:</a:t>
            </a:r>
            <a:endParaRPr sz="1800" b="0" i="0" u="none" strike="noStrike" cap="none" dirty="0">
              <a:solidFill>
                <a:srgbClr val="000000"/>
              </a:solidFill>
              <a:latin typeface="Google Sans"/>
              <a:ea typeface="Google Sans"/>
              <a:cs typeface="Google Sans"/>
              <a:sym typeface="Google Sans"/>
            </a:endParaRPr>
          </a:p>
          <a:p>
            <a:pPr>
              <a:defRPr sz="1600"/>
            </a:pPr>
            <a:r>
              <a:t>• Differentiation</a:t>
            </a:r>
          </a:p>
          <a:p>
            <a:pPr>
              <a:defRPr sz="1600"/>
            </a:pPr>
            <a:r>
              <a:t>• CrisisSync differentiates itself by offering dynamic, AI-generated, role-specific checklists tailored to real-time incident parameters, rather than static protocols. Its intuitive Glassmorphism UI enhances user experience under pressure, providing clarity and focus.</a:t>
            </a:r>
          </a:p>
          <a:p>
            <a:pPr>
              <a:defRPr sz="1600"/>
            </a:pPr>
            <a:r>
              <a:t>• Problem Solving Approach</a:t>
            </a:r>
          </a:p>
          <a:p>
            <a:pPr>
              <a:defRPr sz="1600"/>
            </a:pPr>
            <a:r>
              <a:t>• The solution centralizes crisis information and decentralizes action. By integrating user input on venue, crisis, status, and available teams, CrisisSync generates a live operational plan. This eliminates communication silos, enabling rapid, coordinated responses that protect lives and property more effectively.</a:t>
            </a:r>
          </a:p>
          <a:p>
            <a:pPr>
              <a:defRPr sz="1600"/>
            </a:pPr>
            <a:r>
              <a:t>• USP</a:t>
            </a:r>
          </a:p>
          <a:p>
            <a:pPr>
              <a:defRPr sz="1600"/>
            </a:pPr>
            <a:r>
              <a:t>• The unique selling proposition of CrisisSync is its ability to deliver dynamic, AI-powered, real-time crisis coordination checklists that adapt to specific, evolving emergency scenarios in hospitality, ensuring immediate and precise team response.</a:t>
            </a:r>
          </a:p>
        </p:txBody>
      </p:sp>
      <p:pic>
        <p:nvPicPr>
          <p:cNvPr id="122" name="Google Shape;122;p28"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9"/>
          <p:cNvSpPr txBox="1"/>
          <p:nvPr/>
        </p:nvSpPr>
        <p:spPr>
          <a:xfrm>
            <a:off x="195475" y="855225"/>
            <a:ext cx="8698800" cy="54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000" b="1"/>
            </a:pPr>
            <a:r>
              <a:t>Features:</a:t>
            </a:r>
            <a:endParaRPr sz="1800" b="0" i="0" u="none" strike="noStrike" cap="none" dirty="0">
              <a:solidFill>
                <a:srgbClr val="000000"/>
              </a:solidFill>
              <a:latin typeface="Google Sans"/>
              <a:ea typeface="Google Sans"/>
              <a:cs typeface="Google Sans"/>
              <a:sym typeface="Google Sans"/>
            </a:endParaRPr>
          </a:p>
          <a:p>
            <a:pPr>
              <a:defRPr sz="1600"/>
            </a:pPr>
            <a:r>
              <a:t>• AI-Powered Dynamic Checklists: Generate immediate, short-term, and escalation actions based on live incident data.</a:t>
            </a:r>
          </a:p>
          <a:p>
            <a:pPr>
              <a:defRPr sz="1600"/>
            </a:pPr>
            <a:r>
              <a:t>• Role Assignment &amp; Urgency Flagging: Clearly assign tasks to specific roles and highlight time-critical actions.</a:t>
            </a:r>
          </a:p>
          <a:p>
            <a:pPr>
              <a:defRPr sz="1600"/>
            </a:pPr>
            <a:r>
              <a:t>• Intuitive Glassmorphism UI: A visually distinct and user-friendly interface designed for high-stress environments.</a:t>
            </a:r>
          </a:p>
          <a:p>
            <a:pPr>
              <a:defRPr sz="1600"/>
            </a:pPr>
            <a:r>
              <a:t>• Responsive Design: Accessible and fully functional across mobile and desktop devices.</a:t>
            </a:r>
          </a:p>
          <a:p>
            <a:pPr>
              <a:defRPr sz="1600"/>
            </a:pPr>
            <a:r>
              <a:t>• Seamless Gemini API Integration: Leverages `gemini-2.5-flash` for intelligent crisis response generation.</a:t>
            </a:r>
          </a:p>
        </p:txBody>
      </p:sp>
      <p:pic>
        <p:nvPicPr>
          <p:cNvPr id="128" name="Google Shape;128;p29"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3"/>
          <p:cNvSpPr txBox="1"/>
          <p:nvPr/>
        </p:nvSpPr>
        <p:spPr>
          <a:xfrm>
            <a:off x="158825" y="855225"/>
            <a:ext cx="8784300" cy="1128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500" b="1"/>
            </a:pPr>
            <a:r>
              <a:t>Technologies:</a:t>
            </a:r>
            <a:endParaRPr sz="1200" b="0" i="0" u="none" strike="noStrike" cap="none" dirty="0">
              <a:solidFill>
                <a:srgbClr val="000000"/>
              </a:solidFill>
              <a:latin typeface="Google Sans"/>
              <a:ea typeface="Google Sans"/>
              <a:cs typeface="Google Sans"/>
              <a:sym typeface="Google Sans"/>
            </a:endParaRPr>
          </a:p>
          <a:p>
            <a:pPr>
              <a:defRPr sz="2100"/>
            </a:pPr>
            <a:r>
              <a:t>• Frontend Framework: Next.js 16 (App Router)</a:t>
            </a:r>
          </a:p>
          <a:p>
            <a:pPr>
              <a:defRPr sz="2100"/>
            </a:pPr>
            <a:r>
              <a:t>• Language: TypeScript</a:t>
            </a:r>
          </a:p>
          <a:p>
            <a:pPr>
              <a:defRPr sz="2100"/>
            </a:pPr>
            <a:r>
              <a:t>• Styling: Tailwind CSS + Custom CSS Variables</a:t>
            </a:r>
          </a:p>
          <a:p>
            <a:pPr>
              <a:defRPr sz="2100"/>
            </a:pPr>
            <a:r>
              <a:t>• Icons: Lucide-React</a:t>
            </a:r>
          </a:p>
          <a:p>
            <a:pPr>
              <a:defRPr sz="2100"/>
            </a:pPr>
            <a:r>
              <a:t>• AI Integration: Google Gemini API (`gemini-2.5-flash`)</a:t>
            </a:r>
          </a:p>
          <a:p>
            <a:pPr>
              <a:defRPr sz="2100"/>
            </a:pPr>
            <a:r>
              <a:t>• Constraints:</a:t>
            </a:r>
          </a:p>
          <a:p>
            <a:pPr>
              <a:defRPr sz="2100"/>
            </a:pPr>
            <a:r>
              <a:t>• No fluff</a:t>
            </a:r>
          </a:p>
          <a:p>
            <a:pPr>
              <a:defRPr sz="2100"/>
            </a:pPr>
            <a:r>
              <a:t>• No repetition</a:t>
            </a:r>
          </a:p>
          <a:p>
            <a:pPr>
              <a:defRPr sz="2100"/>
            </a:pPr>
            <a:r>
              <a:t>• Keep concise</a:t>
            </a:r>
          </a:p>
          <a:p>
            <a:pPr>
              <a:defRPr sz="2100"/>
            </a:pPr>
            <a:r>
              <a:t>• Bullet points where appropriate</a:t>
            </a:r>
          </a:p>
        </p:txBody>
      </p:sp>
      <p:pic>
        <p:nvPicPr>
          <p:cNvPr id="152" name="Google Shape;152;p33"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5"/>
          <p:cNvSpPr txBox="1"/>
          <p:nvPr/>
        </p:nvSpPr>
        <p:spPr>
          <a:xfrm>
            <a:off x="219900" y="855225"/>
            <a:ext cx="8723100" cy="59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Google Sans"/>
                <a:ea typeface="Google Sans"/>
                <a:cs typeface="Google Sans"/>
                <a:sym typeface="Google Sans"/>
              </a:rPr>
              <a:t>Snapshots of the MVP</a:t>
            </a:r>
            <a:endParaRPr sz="1800" b="0" i="0" u="none" strike="noStrike" cap="none">
              <a:solidFill>
                <a:srgbClr val="000000"/>
              </a:solidFill>
              <a:latin typeface="Google Sans"/>
              <a:ea typeface="Google Sans"/>
              <a:cs typeface="Google Sans"/>
              <a:sym typeface="Google Sans"/>
            </a:endParaRPr>
          </a:p>
        </p:txBody>
      </p:sp>
      <p:pic>
        <p:nvPicPr>
          <p:cNvPr id="164" name="Google Shape;164;p35" title="frameeeee.png"/>
          <p:cNvPicPr preferRelativeResize="0"/>
          <p:nvPr/>
        </p:nvPicPr>
        <p:blipFill>
          <a:blip r:embed="rId3">
            <a:alphaModFix/>
          </a:blip>
          <a:stretch>
            <a:fillRect/>
          </a:stretch>
        </p:blipFill>
        <p:spPr>
          <a:xfrm>
            <a:off x="0" y="0"/>
            <a:ext cx="9144003" cy="589347"/>
          </a:xfrm>
          <a:prstGeom prst="rect">
            <a:avLst/>
          </a:prstGeom>
          <a:noFill/>
          <a:ln>
            <a:noFill/>
          </a:ln>
        </p:spPr>
      </p:pic>
      <p:pic>
        <p:nvPicPr>
          <p:cNvPr id="3" name="Picture 2">
            <a:extLst>
              <a:ext uri="{FF2B5EF4-FFF2-40B4-BE49-F238E27FC236}">
                <a16:creationId xmlns:a16="http://schemas.microsoft.com/office/drawing/2014/main" id="{3B977E09-42B2-27FB-2D03-B6863B85519A}"/>
              </a:ext>
            </a:extLst>
          </p:cNvPr>
          <p:cNvPicPr>
            <a:picLocks noChangeAspect="1"/>
          </p:cNvPicPr>
          <p:nvPr/>
        </p:nvPicPr>
        <p:blipFill>
          <a:blip r:embed="rId4"/>
          <a:stretch>
            <a:fillRect/>
          </a:stretch>
        </p:blipFill>
        <p:spPr>
          <a:xfrm>
            <a:off x="2558822" y="1271144"/>
            <a:ext cx="4512307" cy="36894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7"/>
          <p:cNvSpPr txBox="1"/>
          <p:nvPr/>
        </p:nvSpPr>
        <p:spPr>
          <a:xfrm>
            <a:off x="146600" y="843000"/>
            <a:ext cx="8833200" cy="63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rgbClr val="000000"/>
                </a:solidFill>
                <a:latin typeface="Google Sans"/>
                <a:ea typeface="Google Sans"/>
                <a:cs typeface="Google Sans"/>
                <a:sym typeface="Google Sans"/>
              </a:rPr>
              <a:t>Links:</a:t>
            </a:r>
            <a:endParaRPr sz="1800" b="0"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Google Sans"/>
              <a:ea typeface="Google Sans"/>
              <a:cs typeface="Google Sans"/>
              <a:sym typeface="Google Sans"/>
            </a:endParaRPr>
          </a:p>
          <a:p>
            <a:pPr marL="457200" marR="0" lvl="0" indent="-342900" algn="l" rtl="0">
              <a:lnSpc>
                <a:spcPct val="100000"/>
              </a:lnSpc>
              <a:spcBef>
                <a:spcPts val="0"/>
              </a:spcBef>
              <a:spcAft>
                <a:spcPts val="0"/>
              </a:spcAft>
              <a:buClr>
                <a:srgbClr val="000000"/>
              </a:buClr>
              <a:buSzPts val="1800"/>
              <a:buFont typeface="Google Sans"/>
              <a:buAutoNum type="arabicPeriod"/>
            </a:pPr>
            <a:r>
              <a:rPr lang="en-GB" sz="1800" b="0" i="0" u="none" strike="noStrike" cap="none" dirty="0">
                <a:solidFill>
                  <a:srgbClr val="000000"/>
                </a:solidFill>
                <a:latin typeface="Google Sans"/>
                <a:ea typeface="Google Sans"/>
                <a:cs typeface="Google Sans"/>
                <a:sym typeface="Google Sans"/>
              </a:rPr>
              <a:t>GitHub Public Repository</a:t>
            </a:r>
            <a:endParaRPr sz="1800" b="0" i="0" u="none" strike="noStrike" cap="none" dirty="0">
              <a:solidFill>
                <a:srgbClr val="000000"/>
              </a:solidFill>
              <a:latin typeface="Google Sans"/>
              <a:ea typeface="Google Sans"/>
              <a:cs typeface="Google Sans"/>
              <a:sym typeface="Google Sans"/>
            </a:endParaRPr>
          </a:p>
          <a:p>
            <a:pPr marL="457200" lvl="0" indent="-342900">
              <a:buSzPts val="1800"/>
              <a:buFont typeface="Google Sans"/>
              <a:buAutoNum type="arabicPeriod"/>
            </a:pPr>
            <a:r>
              <a:rPr lang="en-GB" sz="1800" dirty="0">
                <a:latin typeface="Google Sans"/>
                <a:ea typeface="Google Sans"/>
                <a:cs typeface="Google Sans"/>
                <a:sym typeface="Google Sans"/>
              </a:rPr>
              <a:t>Working Prototype Link: https://crisissync-sc.vercel.app/</a:t>
            </a:r>
            <a:endParaRPr sz="1800" dirty="0">
              <a:latin typeface="Google Sans"/>
              <a:ea typeface="Google Sans"/>
              <a:cs typeface="Google Sans"/>
              <a:sym typeface="Google Sans"/>
            </a:endParaRPr>
          </a:p>
        </p:txBody>
      </p:sp>
      <p:pic>
        <p:nvPicPr>
          <p:cNvPr id="176" name="Google Shape;176;p3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pic>
        <p:nvPicPr>
          <p:cNvPr id="186" name="Google Shape;186;p39" title="38d89ed3-9ded-48f6-b368-c62c46c50b68 1 [Vectorized].png"/>
          <p:cNvPicPr preferRelativeResize="0"/>
          <p:nvPr/>
        </p:nvPicPr>
        <p:blipFill rotWithShape="1">
          <a:blip r:embed="rId3">
            <a:alphaModFix/>
          </a:blip>
          <a:srcRect/>
          <a:stretch/>
        </p:blipFill>
        <p:spPr>
          <a:xfrm>
            <a:off x="4045"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408</Words>
  <Application>Microsoft Office PowerPoint</Application>
  <PresentationFormat>On-screen Show (16:9)</PresentationFormat>
  <Paragraphs>36</Paragraphs>
  <Slides>8</Slides>
  <Notes>8</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8</vt:i4>
      </vt:variant>
    </vt:vector>
  </HeadingPairs>
  <TitlesOfParts>
    <vt:vector size="12" baseType="lpstr">
      <vt:lpstr>Google Sans</vt:lpstr>
      <vt:lpstr>Arial</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Aryan Singh</cp:lastModifiedBy>
  <cp:revision>4</cp:revision>
  <dcterms:modified xsi:type="dcterms:W3CDTF">2026-04-23T19:19:47Z</dcterms:modified>
</cp:coreProperties>
</file>