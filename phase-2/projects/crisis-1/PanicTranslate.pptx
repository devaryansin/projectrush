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0" r:id="rId1"/>
    <p:sldMasterId id="2147483671" r:id="rId2"/>
  </p:sldMasterIdLst>
  <p:notesMasterIdLst>
    <p:notesMasterId r:id="rId11"/>
  </p:notesMasterIdLst>
  <p:sldIdLst>
    <p:sldId id="257" r:id="rId3"/>
    <p:sldId id="258" r:id="rId4"/>
    <p:sldId id="259" r:id="rId5"/>
    <p:sldId id="260" r:id="rId6"/>
    <p:sldId id="264" r:id="rId7"/>
    <p:sldId id="266" r:id="rId8"/>
    <p:sldId id="268" r:id="rId9"/>
    <p:sldId id="270" r:id="rId10"/>
  </p:sldIdLst>
  <p:sldSz cx="9144000" cy="5143500" type="screen16x9"/>
  <p:notesSz cx="6858000" cy="9144000"/>
  <p:embeddedFontLst>
    <p:embeddedFont>
      <p:font typeface="Google Sans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3" d="100"/>
          <a:sy n="63" d="100"/>
        </p:scale>
        <p:origin x="62" y="725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font" Target="fonts/font4.fntdata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07f7ad1a1_2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5" name="Google Shape;105;g3c07f7ad1a1_2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07f7ad1a1_2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3" name="Google Shape;113;g3c07f7ad1a1_2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c07f7ad1a1_2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19" name="Google Shape;119;g3c07f7ad1a1_2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c07f7ad1a1_2_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5" name="Google Shape;125;g3c07f7ad1a1_2_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c07f7ad1a1_2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9" name="Google Shape;149;g3c07f7ad1a1_2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c07f7ad1a1_2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1" name="Google Shape;161;g3c07f7ad1a1_2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c07f7ad1a1_2_1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73" name="Google Shape;173;g3c07f7ad1a1_2_1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c07f7ad1a1_2_1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4" name="Google Shape;184;g3c07f7ad1a1_2_1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57" name="Google Shape;57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4" name="Google Shape;64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8" name="Google Shape;68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69" name="Google Shape;69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5" name="Google Shape;7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76" name="Google Shape;7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79" name="Google Shape;7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83" name="Google Shape;8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84" name="Google Shape;8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5" name="Google Shape;8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88" name="Google Shape;8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92" name="Google Shape;92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6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endParaRPr/>
          </a:p>
        </p:txBody>
      </p:sp>
      <p:pic>
        <p:nvPicPr>
          <p:cNvPr id="108" name="Google Shape;108;p26"/>
          <p:cNvPicPr preferRelativeResize="0"/>
          <p:nvPr/>
        </p:nvPicPr>
        <p:blipFill rotWithShape="1">
          <a:blip r:embed="rId3">
            <a:alphaModFix/>
          </a:blip>
          <a:srcRect t="47611"/>
          <a:stretch/>
        </p:blipFill>
        <p:spPr>
          <a:xfrm>
            <a:off x="0" y="2448875"/>
            <a:ext cx="9144000" cy="2694624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6"/>
          <p:cNvSpPr txBox="1"/>
          <p:nvPr/>
        </p:nvSpPr>
        <p:spPr>
          <a:xfrm>
            <a:off x="146600" y="2895500"/>
            <a:ext cx="8760000" cy="20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Details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marR="0" lvl="1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lphaLcPeriod"/>
            </a:pPr>
            <a:r>
              <a:rPr lang="en-GB" sz="1800" b="1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Team leader name: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914400" lvl="1" indent="-342900">
              <a:buSzPts val="1800"/>
              <a:buFont typeface="Google Sans"/>
              <a:buAutoNum type="alphaLcPeriod"/>
            </a:pP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Problem Statement:</a:t>
            </a:r>
            <a:r>
              <a:rPr lang="en-GB" sz="1800" b="1">
                <a:latin typeface="Google Sans"/>
                <a:ea typeface="Google Sans"/>
                <a:cs typeface="Google Sans"/>
                <a:sym typeface="Google Sans"/>
              </a:rPr>
              <a:t> Rapid Crisis Response</a:t>
            </a:r>
            <a:r>
              <a:rPr lang="en-GB" sz="1800" b="1" i="0" u="none" strike="noStrike" cap="none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 </a:t>
            </a:r>
            <a:endParaRPr sz="1800" b="1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1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0" name="Google Shape;110;p26" title="Frame 96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0"/>
            <a:ext cx="9143997" cy="2759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7"/>
          <p:cNvSpPr txBox="1"/>
          <p:nvPr/>
        </p:nvSpPr>
        <p:spPr>
          <a:xfrm>
            <a:off x="85525" y="806350"/>
            <a:ext cx="89430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Brief: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PanicTranslate provides an immediate, structured response to guest emergencies by converting panicked messages into calm, actionable reports for responders, ensuring critical information is conveyed rapidly and clearly.</a:t>
            </a:r>
          </a:p>
        </p:txBody>
      </p:sp>
      <p:pic>
        <p:nvPicPr>
          <p:cNvPr id="116" name="Google Shape;116;p2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8"/>
          <p:cNvSpPr txBox="1"/>
          <p:nvPr/>
        </p:nvSpPr>
        <p:spPr>
          <a:xfrm>
            <a:off x="183250" y="818550"/>
            <a:ext cx="8784300" cy="141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Opportunities: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Differentiation: Provides a specialized, AI-driven solution for a critical hospitality need.</a:t>
            </a:r>
          </a:p>
          <a:p>
            <a:pPr>
              <a:defRPr sz="1600"/>
            </a:pPr>
            <a:r>
              <a:t>• Problem Solving Approach: Leverages AI for rapid information extraction and communication streamlining during high-stress events.</a:t>
            </a:r>
          </a:p>
          <a:p>
            <a:pPr>
              <a:defRPr sz="1600"/>
            </a:pPr>
            <a:r>
              <a:t>• USP: Instantaneous conversion of chaotic guest distress into organized, life-saving intelligence with a striking, unignorable UI.</a:t>
            </a:r>
          </a:p>
        </p:txBody>
      </p:sp>
      <p:pic>
        <p:nvPicPr>
          <p:cNvPr id="122" name="Google Shape;122;p28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9"/>
          <p:cNvSpPr txBox="1"/>
          <p:nvPr/>
        </p:nvSpPr>
        <p:spPr>
          <a:xfrm>
            <a:off x="195475" y="855225"/>
            <a:ext cx="86988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000" b="1"/>
            </a:pPr>
            <a:r>
              <a:t>Features: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1600"/>
            </a:pPr>
            <a:r>
              <a:t>• AI-powered message triage</a:t>
            </a:r>
          </a:p>
          <a:p>
            <a:pPr>
              <a:defRPr sz="1600"/>
            </a:pPr>
            <a:r>
              <a:t>• Structured emergency fact extraction (incident type, location, people affected, severity, needs)</a:t>
            </a:r>
          </a:p>
          <a:p>
            <a:pPr>
              <a:defRPr sz="1600"/>
            </a:pPr>
            <a:r>
              <a:t>• Calm responder briefing generation</a:t>
            </a:r>
          </a:p>
          <a:p>
            <a:pPr>
              <a:defRPr sz="1600"/>
            </a:pPr>
            <a:r>
              <a:t>• Brutalist UI for maximum impact and clarity</a:t>
            </a:r>
          </a:p>
          <a:p>
            <a:pPr>
              <a:defRPr sz="1600"/>
            </a:pPr>
            <a:r>
              <a:t>• Responsive design for all devices</a:t>
            </a:r>
          </a:p>
          <a:p>
            <a:pPr>
              <a:defRPr sz="1600"/>
            </a:pPr>
            <a:r>
              <a:t>• Client-side API interaction with server-side Gemini processing</a:t>
            </a:r>
          </a:p>
          <a:p>
            <a:pPr>
              <a:defRPr sz="1600"/>
            </a:pPr>
            <a:r>
              <a:t>• Loading and error state handling</a:t>
            </a:r>
          </a:p>
        </p:txBody>
      </p:sp>
      <p:pic>
        <p:nvPicPr>
          <p:cNvPr id="128" name="Google Shape;128;p29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33"/>
          <p:cNvSpPr txBox="1"/>
          <p:nvPr/>
        </p:nvSpPr>
        <p:spPr>
          <a:xfrm>
            <a:off x="158825" y="855225"/>
            <a:ext cx="8784300" cy="112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defRPr sz="2400" b="1"/>
            </a:pPr>
            <a:r>
              <a:t>Technologies:</a:t>
            </a:r>
            <a:endParaRPr sz="12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>
              <a:defRPr sz="2000"/>
            </a:pPr>
            <a:r>
              <a:t>• Next.js 16 (App Router, TypeScript)</a:t>
            </a:r>
          </a:p>
          <a:p>
            <a:pPr>
              <a:defRPr sz="2000"/>
            </a:pPr>
            <a:r>
              <a:t>• Tailwind CSS</a:t>
            </a:r>
          </a:p>
          <a:p>
            <a:pPr>
              <a:defRPr sz="2000"/>
            </a:pPr>
            <a:r>
              <a:t>• Lucide React for icons</a:t>
            </a:r>
          </a:p>
          <a:p>
            <a:pPr>
              <a:defRPr sz="2000"/>
            </a:pPr>
            <a:r>
              <a:t>• Gemini API (gemini-2.5-flash)</a:t>
            </a:r>
          </a:p>
          <a:p>
            <a:pPr>
              <a:defRPr sz="2000"/>
            </a:pPr>
            <a:r>
              <a:t>• Constraints:</a:t>
            </a:r>
          </a:p>
          <a:p>
            <a:pPr>
              <a:defRPr sz="2000"/>
            </a:pPr>
            <a:r>
              <a:t>• No markdown like  or ##</a:t>
            </a:r>
          </a:p>
          <a:p>
            <a:pPr>
              <a:defRPr sz="2000"/>
            </a:pPr>
            <a:r>
              <a:t>• No code</a:t>
            </a:r>
          </a:p>
          <a:p>
            <a:pPr>
              <a:defRPr sz="2000"/>
            </a:pPr>
            <a:r>
              <a:t>• Clean bullet points only</a:t>
            </a:r>
          </a:p>
          <a:p>
            <a:pPr>
              <a:defRPr sz="2000"/>
            </a:pPr>
            <a:r>
              <a:t>• Keep concise</a:t>
            </a:r>
          </a:p>
        </p:txBody>
      </p:sp>
      <p:pic>
        <p:nvPicPr>
          <p:cNvPr id="152" name="Google Shape;152;p33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5"/>
          <p:cNvSpPr txBox="1"/>
          <p:nvPr/>
        </p:nvSpPr>
        <p:spPr>
          <a:xfrm>
            <a:off x="219900" y="855225"/>
            <a:ext cx="8723100" cy="5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Snapshots of the MVP: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64" name="Google Shape;164;p35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71D197F-10DD-DF03-EA35-71C43663ED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2912" y="1238806"/>
            <a:ext cx="5405678" cy="370962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7"/>
          <p:cNvSpPr txBox="1"/>
          <p:nvPr/>
        </p:nvSpPr>
        <p:spPr>
          <a:xfrm>
            <a:off x="146600" y="843000"/>
            <a:ext cx="8833200" cy="63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Links: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marR="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Google Sans"/>
              <a:buAutoNum type="arabicPeriod"/>
            </a:pPr>
            <a:r>
              <a:rPr lang="en-GB" sz="1800" b="0" i="0" u="none" strike="noStrike" cap="none" dirty="0">
                <a:solidFill>
                  <a:srgbClr val="000000"/>
                </a:solidFill>
                <a:latin typeface="Google Sans"/>
                <a:ea typeface="Google Sans"/>
                <a:cs typeface="Google Sans"/>
                <a:sym typeface="Google Sans"/>
              </a:rPr>
              <a:t>GitHub Public Repository:</a:t>
            </a:r>
            <a:endParaRPr sz="1800" b="0" i="0" u="none" strike="noStrike" cap="none" dirty="0">
              <a:solidFill>
                <a:srgbClr val="000000"/>
              </a:solidFill>
              <a:latin typeface="Google Sans"/>
              <a:ea typeface="Google Sans"/>
              <a:cs typeface="Google Sans"/>
              <a:sym typeface="Google Sans"/>
            </a:endParaRPr>
          </a:p>
          <a:p>
            <a:pPr marL="457200" lvl="0" indent="-342900">
              <a:buSzPts val="1800"/>
              <a:buFont typeface="Google Sans"/>
              <a:buAutoNum type="arabicPeriod"/>
            </a:pPr>
            <a:r>
              <a:rPr lang="en-GB" sz="1800" dirty="0">
                <a:latin typeface="Google Sans"/>
                <a:ea typeface="Google Sans"/>
                <a:cs typeface="Google Sans"/>
                <a:sym typeface="Google Sans"/>
              </a:rPr>
              <a:t>Working Prototype Link: https://panictranslate-sc.vercel.app/</a:t>
            </a:r>
            <a:endParaRPr sz="1800" dirty="0">
              <a:latin typeface="Google Sans"/>
              <a:ea typeface="Google Sans"/>
              <a:cs typeface="Google Sans"/>
              <a:sym typeface="Google Sans"/>
            </a:endParaRPr>
          </a:p>
        </p:txBody>
      </p:sp>
      <p:pic>
        <p:nvPicPr>
          <p:cNvPr id="176" name="Google Shape;176;p37" title="frameeee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893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39" title="38d89ed3-9ded-48f6-b368-c62c46c50b68 1 [Vectorized]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45" y="0"/>
            <a:ext cx="9144018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232</Words>
  <Application>Microsoft Office PowerPoint</Application>
  <PresentationFormat>On-screen Show (16:9)</PresentationFormat>
  <Paragraphs>34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Google Sans</vt:lpstr>
      <vt:lpstr>Arial</vt:lpstr>
      <vt:lpstr>Simple Light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Aryan Singh</cp:lastModifiedBy>
  <cp:revision>4</cp:revision>
  <dcterms:modified xsi:type="dcterms:W3CDTF">2026-04-26T17:54:32Z</dcterms:modified>
</cp:coreProperties>
</file>